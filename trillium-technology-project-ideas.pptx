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88552" y="0"/>
            <a:ext cx="3200400" cy="6858000"/>
          </a:xfrm>
          <a:prstGeom prst="rect">
            <a:avLst/>
          </a:prstGeom>
          <a:solidFill>
            <a:srgbClr val="1E5E91"/>
          </a:solidFill>
          <a:ln>
            <a:solidFill>
              <a:srgbClr val="1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418320" y="932688"/>
            <a:ext cx="2029968" cy="2029968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48088" y="1362456"/>
            <a:ext cx="1170432" cy="1170432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418320" y="3877056"/>
            <a:ext cx="2029968" cy="182880"/>
          </a:xfrm>
          <a:prstGeom prst="roundRect">
            <a:avLst/>
          </a:prstGeom>
          <a:solidFill>
            <a:srgbClr val="EF8B2C"/>
          </a:solidFill>
          <a:ln>
            <a:solidFill>
              <a:srgbClr val="EF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914400"/>
            <a:ext cx="6217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00979D"/>
                </a:solidFill>
                <a:latin typeface="Aptos"/>
              </a:rPr>
              <a:t>TECHNOLOGY PROJECT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7680960" cy="1417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Two opportunities to advance
Trillium’s pump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163824"/>
            <a:ext cx="7223760" cy="4937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CEDFEB"/>
                </a:solidFill>
                <a:latin typeface="Aptos"/>
              </a:rPr>
              <a:t>From AI-assisted engineering to closed-loop customer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5029200"/>
            <a:ext cx="1938528" cy="420624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5029200"/>
            <a:ext cx="1938528" cy="42062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CONCEPT 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696712"/>
            <a:ext cx="21945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BED3E0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27432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0979D"/>
                </a:solidFill>
                <a:latin typeface="Aptos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Why this is the right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658368" cy="50292"/>
          </a:xfrm>
          <a:prstGeom prst="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5B6B79"/>
                </a:solidFill>
                <a:latin typeface="Aptos"/>
              </a:rPr>
              <a:t>Three business signals create a practical opening for software-led improvement.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342900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82296" cy="3401568"/>
          </a:xfrm>
          <a:prstGeom prst="roundRect">
            <a:avLst/>
          </a:prstGeom>
          <a:solidFill>
            <a:srgbClr val="1E5E91"/>
          </a:solidFill>
          <a:ln>
            <a:solidFill>
              <a:srgbClr val="1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493776" cy="493776"/>
          </a:xfrm>
          <a:prstGeom prst="roundRect">
            <a:avLst/>
          </a:prstGeom>
          <a:solidFill>
            <a:srgbClr val="1E5E91"/>
          </a:solidFill>
          <a:ln>
            <a:solidFill>
              <a:srgbClr val="1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148840"/>
            <a:ext cx="493776" cy="49377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139696"/>
            <a:ext cx="22860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A sharper pump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697480"/>
            <a:ext cx="3108961" cy="9048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dirty="0">
                <a:solidFill>
                  <a:srgbClr val="5B6B79"/>
                </a:solidFill>
                <a:latin typeface="Aptos"/>
              </a:rPr>
              <a:t>Recent portfolio changes increase the importance of differentiated pump products, services, and aftermarket growth.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920240"/>
            <a:ext cx="342900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79976" y="1920240"/>
            <a:ext cx="82296" cy="3401568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54296" y="2148840"/>
            <a:ext cx="493776" cy="493776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54296" y="2148840"/>
            <a:ext cx="493776" cy="49377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2139696"/>
            <a:ext cx="22860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AI research is underway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2697480"/>
            <a:ext cx="3108960" cy="9048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dirty="0">
                <a:solidFill>
                  <a:srgbClr val="5B6B79"/>
                </a:solidFill>
                <a:latin typeface="Aptos"/>
              </a:rPr>
              <a:t>Trillium and </a:t>
            </a:r>
            <a:r>
              <a:rPr sz="1350" b="0" dirty="0" err="1">
                <a:solidFill>
                  <a:srgbClr val="5B6B79"/>
                </a:solidFill>
                <a:latin typeface="Aptos"/>
              </a:rPr>
              <a:t>Politecnico</a:t>
            </a:r>
            <a:r>
              <a:rPr sz="1350" b="0" dirty="0">
                <a:solidFill>
                  <a:srgbClr val="5B6B79"/>
                </a:solidFill>
                <a:latin typeface="Aptos"/>
              </a:rPr>
              <a:t> di Milano are developing fast surrogate models for centrifugal-pump simulation and geometry.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920240"/>
            <a:ext cx="342900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01583" y="1920240"/>
            <a:ext cx="82296" cy="3401568"/>
          </a:xfrm>
          <a:prstGeom prst="roundRect">
            <a:avLst/>
          </a:prstGeom>
          <a:solidFill>
            <a:srgbClr val="EF8B2C"/>
          </a:solidFill>
          <a:ln>
            <a:solidFill>
              <a:srgbClr val="EF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75904" y="2148840"/>
            <a:ext cx="493776" cy="493776"/>
          </a:xfrm>
          <a:prstGeom prst="roundRect">
            <a:avLst/>
          </a:prstGeom>
          <a:solidFill>
            <a:srgbClr val="EF8B2C"/>
          </a:solidFill>
          <a:ln>
            <a:solidFill>
              <a:srgbClr val="EF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75904" y="2148840"/>
            <a:ext cx="493776" cy="49377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2139696"/>
            <a:ext cx="2706624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102A43"/>
                </a:solidFill>
                <a:latin typeface="Aptos"/>
              </a:rPr>
              <a:t>Competitors are digitizing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3" y="2697480"/>
            <a:ext cx="2956529" cy="9048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dirty="0">
                <a:solidFill>
                  <a:srgbClr val="5B6B79"/>
                </a:solidFill>
                <a:latin typeface="Aptos"/>
              </a:rPr>
              <a:t>Major competitors connect pump selection and monitoring with recommendations, workflows, APIs, and service offerings.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779008"/>
            <a:ext cx="992124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102A43"/>
                </a:solidFill>
                <a:latin typeface="Aptos"/>
              </a:rPr>
              <a:t>The opportunity: convert existing engineering and monitoring strengths into usable digital products.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D0DCE2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1014984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B6B79"/>
                </a:solidFill>
                <a:latin typeface="Aptos"/>
              </a:rPr>
              <a:t>Sources: Trillium Flow Technologies; AIRIC / Politecnico di Milano; competitor public product pages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7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27432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0979D"/>
                </a:solidFill>
                <a:latin typeface="Aptos"/>
              </a:rPr>
              <a:t>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Two complementary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658368" cy="50292"/>
          </a:xfrm>
          <a:prstGeom prst="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5B6B79"/>
                </a:solidFill>
                <a:latin typeface="Aptos"/>
              </a:rPr>
              <a:t>One improves how customers maintain pumps; the other improves how Trillium designs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5166360" cy="3520440"/>
          </a:xfrm>
          <a:prstGeom prst="roundRect">
            <a:avLst/>
          </a:prstGeom>
          <a:solidFill>
            <a:srgbClr val="E2F5F4"/>
          </a:solidFill>
          <a:ln>
            <a:solidFill>
              <a:srgbClr val="E2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176272"/>
            <a:ext cx="22860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00979D"/>
                </a:solidFill>
                <a:latin typeface="Aptos"/>
              </a:rPr>
              <a:t>CUSTOMER-FACING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87752"/>
            <a:ext cx="4389120" cy="42062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Aptos"/>
              </a:rPr>
              <a:t>PumpCare 360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4782312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202D3A"/>
                </a:solidFill>
                <a:latin typeface="Aptos"/>
              </a:rPr>
              <a:t>Turn pump alerts into clear maintenance and service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4096511"/>
            <a:ext cx="91440" cy="91440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4005072"/>
            <a:ext cx="4123944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5B6B79"/>
                </a:solidFill>
                <a:latin typeface="Aptos"/>
              </a:rPr>
              <a:t>Lower downtime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4507992"/>
            <a:ext cx="91440" cy="91440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98448" y="4416552"/>
            <a:ext cx="4123944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5B6B79"/>
                </a:solidFill>
                <a:latin typeface="Aptos"/>
              </a:rPr>
              <a:t>Improve customer 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4919472"/>
            <a:ext cx="91440" cy="91440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4828032"/>
            <a:ext cx="4123944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5B6B79"/>
                </a:solidFill>
                <a:latin typeface="Aptos"/>
              </a:rPr>
              <a:t>Grow digital and aftermarket revenue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874519"/>
            <a:ext cx="5166360" cy="3520440"/>
          </a:xfrm>
          <a:prstGeom prst="roundRect">
            <a:avLst/>
          </a:prstGeom>
          <a:solidFill>
            <a:srgbClr val="E5F0F7"/>
          </a:solidFill>
          <a:ln>
            <a:solidFill>
              <a:srgbClr val="E5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47688" y="2176272"/>
            <a:ext cx="22860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1E5E91"/>
                </a:solidFill>
                <a:latin typeface="Aptos"/>
              </a:rPr>
              <a:t>INTERNAL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2587752"/>
            <a:ext cx="4389120" cy="42062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Aptos"/>
              </a:rPr>
              <a:t>RapidDesign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3154680"/>
            <a:ext cx="4828032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202D3A"/>
                </a:solidFill>
                <a:latin typeface="Aptos"/>
              </a:rPr>
              <a:t>Turn AI pump research into a faster design-to-quote workflow.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4096511"/>
            <a:ext cx="91440" cy="91440"/>
          </a:xfrm>
          <a:prstGeom prst="roundRect">
            <a:avLst/>
          </a:prstGeom>
          <a:solidFill>
            <a:srgbClr val="1E5E91"/>
          </a:solidFill>
          <a:ln>
            <a:solidFill>
              <a:srgbClr val="1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94576" y="4005072"/>
            <a:ext cx="4123944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5B6B79"/>
                </a:solidFill>
                <a:latin typeface="Aptos"/>
              </a:rPr>
              <a:t>Reduce engineering cycle 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4507992"/>
            <a:ext cx="91440" cy="91440"/>
          </a:xfrm>
          <a:prstGeom prst="roundRect">
            <a:avLst/>
          </a:prstGeom>
          <a:solidFill>
            <a:srgbClr val="1E5E91"/>
          </a:solidFill>
          <a:ln>
            <a:solidFill>
              <a:srgbClr val="1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94576" y="4416552"/>
            <a:ext cx="4123944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5B6B79"/>
                </a:solidFill>
                <a:latin typeface="Aptos"/>
              </a:rPr>
              <a:t>Evaluate more design options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4919472"/>
            <a:ext cx="91440" cy="91440"/>
          </a:xfrm>
          <a:prstGeom prst="roundRect">
            <a:avLst/>
          </a:prstGeom>
          <a:solidFill>
            <a:srgbClr val="1E5E91"/>
          </a:solidFill>
          <a:ln>
            <a:solidFill>
              <a:srgbClr val="1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94576" y="4828032"/>
            <a:ext cx="4123944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5B6B79"/>
                </a:solidFill>
                <a:latin typeface="Aptos"/>
              </a:rPr>
              <a:t>Respond to customers faster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D0DCE2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7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27432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0979D"/>
                </a:solidFill>
                <a:latin typeface="Aptos"/>
              </a:rPr>
              <a:t>CUSTOMER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Idea 1 — PumpCare 360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658368" cy="50292"/>
          </a:xfrm>
          <a:prstGeom prst="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5B6B79"/>
                </a:solidFill>
                <a:latin typeface="Aptos"/>
              </a:rPr>
              <a:t>Extend Cyclops² from condition visibility to a complete action and service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100584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5B6B79"/>
                </a:solidFill>
                <a:latin typeface="Aptos"/>
              </a:rPr>
              <a:t>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212848"/>
            <a:ext cx="3035808" cy="2514600"/>
          </a:xfrm>
          <a:prstGeom prst="roundRect">
            <a:avLst/>
          </a:prstGeom>
          <a:solidFill>
            <a:srgbClr val="F2F6F8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532888"/>
            <a:ext cx="246888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02A43"/>
                </a:solidFill>
                <a:latin typeface="Aptos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136392"/>
            <a:ext cx="2761488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dirty="0">
                <a:solidFill>
                  <a:srgbClr val="5B6B79"/>
                </a:solidFill>
                <a:latin typeface="Aptos"/>
              </a:rPr>
              <a:t>Cyclops² provides connected pump data, condition monitoring, and analytics.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05072" y="3264408"/>
            <a:ext cx="658368" cy="365760"/>
          </a:xfrm>
          <a:prstGeom prst="rightArrow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64608" y="1874519"/>
            <a:ext cx="1280160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0979D"/>
                </a:solidFill>
                <a:latin typeface="Aptos"/>
              </a:rPr>
              <a:t>PROPOSED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4608" y="2212848"/>
            <a:ext cx="6583680" cy="2514600"/>
          </a:xfrm>
          <a:prstGeom prst="roundRect">
            <a:avLst/>
          </a:prstGeom>
          <a:solidFill>
            <a:srgbClr val="E2F5F4"/>
          </a:solidFill>
          <a:ln>
            <a:solidFill>
              <a:srgbClr val="E2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75504" y="2578608"/>
            <a:ext cx="1719072" cy="475488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75504" y="2578608"/>
            <a:ext cx="1719072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3310128"/>
            <a:ext cx="1719072" cy="4585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50" b="0" dirty="0">
                <a:solidFill>
                  <a:srgbClr val="202D3A"/>
                </a:solidFill>
                <a:latin typeface="Aptos"/>
              </a:rPr>
              <a:t>What changed and how serious is 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2904" y="2578608"/>
            <a:ext cx="1719072" cy="475488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32904" y="2578608"/>
            <a:ext cx="1719072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Recommend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2068" y="3345317"/>
            <a:ext cx="1581912" cy="4585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50" b="0" dirty="0">
                <a:solidFill>
                  <a:srgbClr val="202D3A"/>
                </a:solidFill>
                <a:latin typeface="Aptos"/>
              </a:rPr>
              <a:t>What action should the customer take?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90304" y="2578608"/>
            <a:ext cx="1719072" cy="475488"/>
          </a:xfrm>
          <a:prstGeom prst="roundRect">
            <a:avLst/>
          </a:prstGeom>
          <a:solidFill>
            <a:srgbClr val="53A65C"/>
          </a:solidFill>
          <a:ln>
            <a:solidFill>
              <a:srgbClr val="53A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2578608"/>
            <a:ext cx="1719072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3310128"/>
            <a:ext cx="1517904" cy="6509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50" b="0" dirty="0">
                <a:solidFill>
                  <a:srgbClr val="202D3A"/>
                </a:solidFill>
                <a:latin typeface="Aptos"/>
              </a:rPr>
              <a:t>Create a task, service request, or parts enquiry.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5303520"/>
            <a:ext cx="99669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102A43"/>
                </a:solidFill>
                <a:latin typeface="Aptos"/>
              </a:rPr>
              <a:t>Business outcome: </a:t>
            </a:r>
            <a:r>
              <a:rPr sz="1700" b="0">
                <a:solidFill>
                  <a:srgbClr val="202D3A"/>
                </a:solidFill>
                <a:latin typeface="Aptos"/>
              </a:rPr>
              <a:t>lower downtime + stronger service relationship + recurring revenue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D0DCE2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1014984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B6B79"/>
                </a:solidFill>
                <a:latin typeface="Aptos"/>
              </a:rPr>
              <a:t>Source: Trillium Smart Condition Monitoring / Cyclops² public materials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7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27432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0979D"/>
                </a:solidFill>
                <a:latin typeface="Aptos"/>
              </a:rPr>
              <a:t>CONCEPT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PumpCare 360 — how value is created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658368" cy="50292"/>
          </a:xfrm>
          <a:prstGeom prst="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5B6B79"/>
                </a:solidFill>
                <a:latin typeface="Aptos"/>
              </a:rPr>
              <a:t>A closed loop connects operating data to customer action and Trillium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450592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9536" y="2377440"/>
            <a:ext cx="512064" cy="512064"/>
          </a:xfrm>
          <a:prstGeom prst="roundRect">
            <a:avLst/>
          </a:prstGeom>
          <a:solidFill>
            <a:srgbClr val="1E5E91"/>
          </a:solidFill>
          <a:ln>
            <a:solidFill>
              <a:srgbClr val="1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2377440"/>
            <a:ext cx="512064" cy="5120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127248"/>
            <a:ext cx="1993392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102A43"/>
                </a:solidFill>
                <a:latin typeface="Aptos"/>
              </a:rPr>
              <a:t>Pump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803904"/>
            <a:ext cx="2075688" cy="4647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70" b="0" dirty="0">
                <a:solidFill>
                  <a:srgbClr val="5B6B79"/>
                </a:solidFill>
                <a:latin typeface="Aptos"/>
              </a:rPr>
              <a:t>Cyclops², sensors, or approved customer data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82111" y="3346704"/>
            <a:ext cx="347472" cy="219456"/>
          </a:xfrm>
          <a:prstGeom prst="rightArrow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29584" y="2148840"/>
            <a:ext cx="2450592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30752" y="2377440"/>
            <a:ext cx="512064" cy="512064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0752" y="2377440"/>
            <a:ext cx="512064" cy="5120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3127248"/>
            <a:ext cx="1993392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102A43"/>
                </a:solidFill>
                <a:latin typeface="Aptos"/>
              </a:rPr>
              <a:t>Prioritized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904" y="3803904"/>
            <a:ext cx="1993392" cy="4647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70" b="0" dirty="0">
                <a:solidFill>
                  <a:srgbClr val="5B6B79"/>
                </a:solidFill>
                <a:latin typeface="Aptos"/>
              </a:rPr>
              <a:t>Health, anomaly, urgency, and explanation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53328" y="3346704"/>
            <a:ext cx="347472" cy="219456"/>
          </a:xfrm>
          <a:prstGeom prst="rightArrow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0" y="2148840"/>
            <a:ext cx="2450592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01968" y="2377440"/>
            <a:ext cx="512064" cy="512064"/>
          </a:xfrm>
          <a:prstGeom prst="roundRect">
            <a:avLst/>
          </a:prstGeom>
          <a:solidFill>
            <a:srgbClr val="53A65C"/>
          </a:solidFill>
          <a:ln>
            <a:solidFill>
              <a:srgbClr val="53A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1968" y="2377440"/>
            <a:ext cx="512064" cy="5120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127248"/>
            <a:ext cx="1993392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102A43"/>
                </a:solidFill>
                <a:latin typeface="Aptos"/>
              </a:rPr>
              <a:t>Recommended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803904"/>
            <a:ext cx="1947672" cy="4647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70" b="0" dirty="0">
                <a:solidFill>
                  <a:srgbClr val="5B6B79"/>
                </a:solidFill>
                <a:latin typeface="Aptos"/>
              </a:rPr>
              <a:t>Engineer-approved maintenance guidance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924544" y="3346704"/>
            <a:ext cx="347472" cy="219456"/>
          </a:xfrm>
          <a:prstGeom prst="rightArrow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272016" y="2148840"/>
            <a:ext cx="2450592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473184" y="2377440"/>
            <a:ext cx="512064" cy="512064"/>
          </a:xfrm>
          <a:prstGeom prst="roundRect">
            <a:avLst/>
          </a:prstGeom>
          <a:solidFill>
            <a:srgbClr val="EF8B2C"/>
          </a:solidFill>
          <a:ln>
            <a:solidFill>
              <a:srgbClr val="EF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73184" y="2377440"/>
            <a:ext cx="512064" cy="5120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0616" y="3127248"/>
            <a:ext cx="1993392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102A43"/>
                </a:solidFill>
                <a:latin typeface="Aptos"/>
              </a:rPr>
              <a:t>Execution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6" y="3803904"/>
            <a:ext cx="1975104" cy="4647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70" b="0" dirty="0">
                <a:solidFill>
                  <a:srgbClr val="5B6B79"/>
                </a:solidFill>
                <a:latin typeface="Aptos"/>
              </a:rPr>
              <a:t>Work order, service request, or parts enquiry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5440680"/>
            <a:ext cx="9710928" cy="54864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5440680"/>
            <a:ext cx="9710928" cy="5486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Every resolved issue improves the asset history and supports future recommendations.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D0DCE2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7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27432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0979D"/>
                </a:solidFill>
                <a:latin typeface="Aptos"/>
              </a:rPr>
              <a:t>MARKET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Competitor signal: monitoring is becoming actionable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658368" cy="50292"/>
          </a:xfrm>
          <a:prstGeom prst="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5B6B79"/>
                </a:solidFill>
                <a:latin typeface="Aptos"/>
              </a:rPr>
              <a:t>The public market benchmark extends beyond dashboards and alerts.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901952"/>
          <a:ext cx="10424160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16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Competitor</a:t>
                      </a:r>
                    </a:p>
                  </a:txBody>
                  <a:tcPr marL="73152" marR="73152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Public offering</a:t>
                      </a:r>
                    </a:p>
                  </a:txBody>
                  <a:tcPr marL="73152" marR="73152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Visible strength</a:t>
                      </a:r>
                    </a:p>
                  </a:txBody>
                  <a:tcPr marL="73152" marR="73152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16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D3A"/>
                          </a:solidFill>
                          <a:latin typeface="Aptos"/>
                        </a:rPr>
                        <a:t>KSB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KSB Guard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Maintenance tracking, action recommendations, expert support, REST API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16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D3A"/>
                          </a:solidFill>
                          <a:latin typeface="Aptos"/>
                        </a:rPr>
                        <a:t>Sulzer</a:t>
                      </a:r>
                    </a:p>
                  </a:txBody>
                  <a:tcPr marL="73152" marR="73152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BLUE BOX</a:t>
                      </a:r>
                    </a:p>
                  </a:txBody>
                  <a:tcPr marL="73152" marR="73152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Risk insights plus energy, cost, carbon, and remaining-life analysis</a:t>
                      </a:r>
                    </a:p>
                  </a:txBody>
                  <a:tcPr marL="73152" marR="73152"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16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D3A"/>
                          </a:solidFill>
                          <a:latin typeface="Aptos"/>
                        </a:rPr>
                        <a:t>Flowserve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RedRaven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Connected predictive monitoring across flow-control equipment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16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D3A"/>
                          </a:solidFill>
                          <a:latin typeface="Aptos"/>
                        </a:rPr>
                        <a:t>Xylem</a:t>
                      </a:r>
                    </a:p>
                  </a:txBody>
                  <a:tcPr marL="73152" marR="73152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Avensor</a:t>
                      </a:r>
                    </a:p>
                  </a:txBody>
                  <a:tcPr marL="73152" marR="73152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Anomaly detection, prioritization, and guided inspections</a:t>
                      </a:r>
                    </a:p>
                  </a:txBody>
                  <a:tcPr marL="73152" marR="73152"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8" y="5276088"/>
            <a:ext cx="10424160" cy="749808"/>
          </a:xfrm>
          <a:prstGeom prst="roundRect">
            <a:avLst/>
          </a:prstGeom>
          <a:solidFill>
            <a:srgbClr val="FEF1E1"/>
          </a:solidFill>
          <a:ln>
            <a:solidFill>
              <a:srgbClr val="FEF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5440680"/>
            <a:ext cx="9875520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50" b="1">
                <a:solidFill>
                  <a:srgbClr val="102A43"/>
                </a:solidFill>
                <a:latin typeface="Aptos"/>
              </a:rPr>
              <a:t>Trillium opportunity: </a:t>
            </a:r>
            <a:r>
              <a:rPr sz="1550" b="0">
                <a:solidFill>
                  <a:srgbClr val="202D3A"/>
                </a:solidFill>
                <a:latin typeface="Aptos"/>
              </a:rPr>
              <a:t>connect Cyclops² insight directly to maintenance execution and Trillium aftermarket services.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D0DCE2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1014984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B6B79"/>
                </a:solidFill>
                <a:latin typeface="Aptos"/>
              </a:rPr>
              <a:t>Sources: KSB Guard, Sulzer BLUE BOX, Flowserve RedRaven, Xylem Avensor public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79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27432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0979D"/>
                </a:solidFill>
                <a:latin typeface="Aptos"/>
              </a:rPr>
              <a:t>INTERNAL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Idea 2 — RapidDesign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658368" cy="50292"/>
          </a:xfrm>
          <a:prstGeom prst="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5B6B79"/>
                </a:solidFill>
                <a:latin typeface="Aptos"/>
              </a:rPr>
              <a:t>Productize existing AI simulation research into an everyday engineering and quotation tool.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920240"/>
            <a:ext cx="3675887" cy="3584448"/>
          </a:xfrm>
          <a:prstGeom prst="roundRect">
            <a:avLst/>
          </a:prstGeom>
          <a:solidFill>
            <a:srgbClr val="F2F6F8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49424"/>
            <a:ext cx="3054096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Aptos"/>
              </a:rPr>
              <a:t>Current challenge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2980944"/>
            <a:ext cx="91440" cy="91440"/>
          </a:xfrm>
          <a:prstGeom prst="roundRect">
            <a:avLst/>
          </a:prstGeom>
          <a:solidFill>
            <a:srgbClr val="EF8B2C"/>
          </a:solidFill>
          <a:ln>
            <a:solidFill>
              <a:srgbClr val="EF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43584" y="2889504"/>
            <a:ext cx="2743200" cy="52120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20" b="0">
                <a:solidFill>
                  <a:srgbClr val="5B6B79"/>
                </a:solidFill>
                <a:latin typeface="Aptos"/>
              </a:rPr>
              <a:t>Custom pump designs require multiple iterations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3502152"/>
            <a:ext cx="91440" cy="91440"/>
          </a:xfrm>
          <a:prstGeom prst="roundRect">
            <a:avLst/>
          </a:prstGeom>
          <a:solidFill>
            <a:srgbClr val="EF8B2C"/>
          </a:solidFill>
          <a:ln>
            <a:solidFill>
              <a:srgbClr val="EF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43584" y="3410712"/>
            <a:ext cx="2743200" cy="52120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20" b="0">
                <a:solidFill>
                  <a:srgbClr val="5B6B79"/>
                </a:solidFill>
                <a:latin typeface="Aptos"/>
              </a:rPr>
              <a:t>Traditional CFD is computationally expensive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4023359"/>
            <a:ext cx="91440" cy="91440"/>
          </a:xfrm>
          <a:prstGeom prst="roundRect">
            <a:avLst/>
          </a:prstGeom>
          <a:solidFill>
            <a:srgbClr val="EF8B2C"/>
          </a:solidFill>
          <a:ln>
            <a:solidFill>
              <a:srgbClr val="EF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43584" y="3931920"/>
            <a:ext cx="2743200" cy="52120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20" b="0">
                <a:solidFill>
                  <a:srgbClr val="5B6B79"/>
                </a:solidFill>
                <a:latin typeface="Aptos"/>
              </a:rPr>
              <a:t>Knowledge is distributed across experts and past projects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4544568"/>
            <a:ext cx="91440" cy="91440"/>
          </a:xfrm>
          <a:prstGeom prst="roundRect">
            <a:avLst/>
          </a:prstGeom>
          <a:solidFill>
            <a:srgbClr val="EF8B2C"/>
          </a:solidFill>
          <a:ln>
            <a:solidFill>
              <a:srgbClr val="EF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43584" y="4453128"/>
            <a:ext cx="2743200" cy="52120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20" b="0">
                <a:solidFill>
                  <a:srgbClr val="5B6B79"/>
                </a:solidFill>
                <a:latin typeface="Aptos"/>
              </a:rPr>
              <a:t>Slow technical response can weaken competitiveness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617720" y="3364992"/>
            <a:ext cx="658368" cy="365760"/>
          </a:xfrm>
          <a:prstGeom prst="rightArrow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504688" y="1920240"/>
            <a:ext cx="5925312" cy="3584448"/>
          </a:xfrm>
          <a:prstGeom prst="roundRect">
            <a:avLst/>
          </a:prstGeom>
          <a:solidFill>
            <a:srgbClr val="E5F0F7"/>
          </a:solidFill>
          <a:ln>
            <a:solidFill>
              <a:srgbClr val="E5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33872" y="2249424"/>
            <a:ext cx="5230368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Aptos"/>
              </a:rPr>
              <a:t>RapidDesign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2944368"/>
            <a:ext cx="91440" cy="91440"/>
          </a:xfrm>
          <a:prstGeom prst="roundRect">
            <a:avLst/>
          </a:prstGeom>
          <a:solidFill>
            <a:srgbClr val="1E5E91"/>
          </a:solidFill>
          <a:ln>
            <a:solidFill>
              <a:srgbClr val="1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71616" y="2852928"/>
            <a:ext cx="4791456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20" b="0">
                <a:solidFill>
                  <a:srgbClr val="202D3A"/>
                </a:solidFill>
                <a:latin typeface="Aptos"/>
              </a:rPr>
              <a:t>Capture customer operating requirements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3401568"/>
            <a:ext cx="91440" cy="91440"/>
          </a:xfrm>
          <a:prstGeom prst="roundRect">
            <a:avLst/>
          </a:prstGeom>
          <a:solidFill>
            <a:srgbClr val="1E5E91"/>
          </a:solidFill>
          <a:ln>
            <a:solidFill>
              <a:srgbClr val="1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71616" y="3310128"/>
            <a:ext cx="4791456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20" b="0">
                <a:solidFill>
                  <a:srgbClr val="202D3A"/>
                </a:solidFill>
                <a:latin typeface="Aptos"/>
              </a:rPr>
              <a:t>Retrieve relevant approved designs and curves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3858768"/>
            <a:ext cx="91440" cy="91440"/>
          </a:xfrm>
          <a:prstGeom prst="roundRect">
            <a:avLst/>
          </a:prstGeom>
          <a:solidFill>
            <a:srgbClr val="1E5E91"/>
          </a:solidFill>
          <a:ln>
            <a:solidFill>
              <a:srgbClr val="1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71616" y="3767328"/>
            <a:ext cx="4791456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20" b="0">
                <a:solidFill>
                  <a:srgbClr val="202D3A"/>
                </a:solidFill>
                <a:latin typeface="Aptos"/>
              </a:rPr>
              <a:t>Use AI models to compare alternatives quickly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4315968"/>
            <a:ext cx="91440" cy="91440"/>
          </a:xfrm>
          <a:prstGeom prst="roundRect">
            <a:avLst/>
          </a:prstGeom>
          <a:solidFill>
            <a:srgbClr val="1E5E91"/>
          </a:solidFill>
          <a:ln>
            <a:solidFill>
              <a:srgbClr val="1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71616" y="4224528"/>
            <a:ext cx="4791456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20" b="0">
                <a:solidFill>
                  <a:srgbClr val="202D3A"/>
                </a:solidFill>
                <a:latin typeface="Aptos"/>
              </a:rPr>
              <a:t>Send the best candidates for final CFD 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4773168"/>
            <a:ext cx="91440" cy="91440"/>
          </a:xfrm>
          <a:prstGeom prst="roundRect">
            <a:avLst/>
          </a:prstGeom>
          <a:solidFill>
            <a:srgbClr val="1E5E91"/>
          </a:solidFill>
          <a:ln>
            <a:solidFill>
              <a:srgbClr val="1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71616" y="4681728"/>
            <a:ext cx="4791456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20" b="0">
                <a:solidFill>
                  <a:srgbClr val="202D3A"/>
                </a:solidFill>
                <a:latin typeface="Aptos"/>
              </a:rPr>
              <a:t>Generate a controlled technical proposal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D0DCE2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1014984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B6B79"/>
                </a:solidFill>
                <a:latin typeface="Aptos"/>
              </a:rPr>
              <a:t>Source: Trillium / AIRIC Reduced Order Modelling and PIAI4PUMPS-GEO project information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79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27432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0979D"/>
                </a:solidFill>
                <a:latin typeface="Aptos"/>
              </a:rPr>
              <a:t>CONCEPT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RapidDesign — faster without removing engineering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658368" cy="50292"/>
          </a:xfrm>
          <a:prstGeom prst="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5B6B79"/>
                </a:solidFill>
                <a:latin typeface="Aptos"/>
              </a:rPr>
              <a:t>AI narrows the search space; qualified engineers retain final design authority.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947672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936" y="1947672"/>
            <a:ext cx="2514600" cy="100584"/>
          </a:xfrm>
          <a:prstGeom prst="rect">
            <a:avLst/>
          </a:prstGeom>
          <a:solidFill>
            <a:srgbClr val="1E5E91"/>
          </a:solidFill>
          <a:ln>
            <a:solidFill>
              <a:srgbClr val="1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" y="2340864"/>
            <a:ext cx="2185416" cy="40233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971800"/>
            <a:ext cx="2057400" cy="452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30" b="0" dirty="0">
                <a:solidFill>
                  <a:srgbClr val="5B6B79"/>
                </a:solidFill>
                <a:latin typeface="Aptos"/>
              </a:rPr>
              <a:t>Duty point, fluid, standards, constraints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2761488"/>
            <a:ext cx="329184" cy="201168"/>
          </a:xfrm>
          <a:prstGeom prst="rightArrow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20440" y="1947672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1947672"/>
            <a:ext cx="2514600" cy="100584"/>
          </a:xfrm>
          <a:prstGeom prst="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5032" y="2340864"/>
            <a:ext cx="2185416" cy="40233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AI screening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971800"/>
            <a:ext cx="2057400" cy="452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30" b="0" dirty="0">
                <a:solidFill>
                  <a:srgbClr val="5B6B79"/>
                </a:solidFill>
                <a:latin typeface="Aptos"/>
              </a:rPr>
              <a:t>Evaluate and rank many design scenarios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71616" y="2761488"/>
            <a:ext cx="329184" cy="201168"/>
          </a:xfrm>
          <a:prstGeom prst="rightArrow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9944" y="1947672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9944" y="1947672"/>
            <a:ext cx="2514600" cy="100584"/>
          </a:xfrm>
          <a:prstGeom prst="rect">
            <a:avLst/>
          </a:prstGeom>
          <a:solidFill>
            <a:srgbClr val="1E5E91"/>
          </a:solidFill>
          <a:ln>
            <a:solidFill>
              <a:srgbClr val="1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74536" y="2340864"/>
            <a:ext cx="2185416" cy="40233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Engineering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971800"/>
            <a:ext cx="2121408" cy="452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30" b="0" dirty="0">
                <a:solidFill>
                  <a:srgbClr val="5B6B79"/>
                </a:solidFill>
                <a:latin typeface="Aptos"/>
              </a:rPr>
              <a:t>Review shortlist and run final CFD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61120" y="2761488"/>
            <a:ext cx="329184" cy="201168"/>
          </a:xfrm>
          <a:prstGeom prst="rightArrow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299448" y="1947672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99448" y="1947672"/>
            <a:ext cx="2514600" cy="100584"/>
          </a:xfrm>
          <a:prstGeom prst="rect">
            <a:avLst/>
          </a:prstGeom>
          <a:solidFill>
            <a:srgbClr val="1E5E91"/>
          </a:solidFill>
          <a:ln>
            <a:solidFill>
              <a:srgbClr val="1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4040" y="2340864"/>
            <a:ext cx="2185416" cy="40233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Proposal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2971800"/>
            <a:ext cx="2121408" cy="64171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30" b="0" dirty="0">
                <a:solidFill>
                  <a:srgbClr val="5B6B79"/>
                </a:solidFill>
                <a:latin typeface="Aptos"/>
              </a:rPr>
              <a:t>Approved curves, assumptions, and configuration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370832"/>
            <a:ext cx="25603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0979D"/>
                </a:solidFill>
                <a:latin typeface="Aptos"/>
              </a:rPr>
              <a:t>COMPETITOR POSITIONING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709160"/>
            <a:ext cx="10771632" cy="1161288"/>
          </a:xfrm>
          <a:prstGeom prst="roundRect">
            <a:avLst/>
          </a:prstGeom>
          <a:solidFill>
            <a:srgbClr val="E2F5F4"/>
          </a:solidFill>
          <a:ln>
            <a:solidFill>
              <a:srgbClr val="E2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4937760"/>
            <a:ext cx="4983480" cy="53035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dirty="0">
                <a:solidFill>
                  <a:srgbClr val="202D3A"/>
                </a:solidFill>
                <a:latin typeface="Aptos"/>
              </a:rPr>
              <a:t>Flowserve Affinity, KSB </a:t>
            </a:r>
            <a:r>
              <a:rPr sz="1400" b="0" dirty="0" err="1">
                <a:solidFill>
                  <a:srgbClr val="202D3A"/>
                </a:solidFill>
                <a:latin typeface="Aptos"/>
              </a:rPr>
              <a:t>EasySelect</a:t>
            </a:r>
            <a:r>
              <a:rPr sz="1400" b="0" dirty="0">
                <a:solidFill>
                  <a:srgbClr val="202D3A"/>
                </a:solidFill>
                <a:latin typeface="Aptos"/>
              </a:rPr>
              <a:t>, and Sulzer Select accelerate catalogue selection.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474" y="5285232"/>
            <a:ext cx="5010912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 dirty="0" err="1">
                <a:solidFill>
                  <a:srgbClr val="102A43"/>
                </a:solidFill>
                <a:latin typeface="Aptos"/>
              </a:rPr>
              <a:t>RapidDesign</a:t>
            </a:r>
            <a:r>
              <a:rPr sz="1400" b="1" dirty="0">
                <a:solidFill>
                  <a:srgbClr val="102A43"/>
                </a:solidFill>
                <a:latin typeface="Aptos"/>
              </a:rPr>
              <a:t> differentiates through AI-assisted custom engineering—not just standard product selection.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D0DCE2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1014984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B6B79"/>
                </a:solidFill>
                <a:latin typeface="Aptos"/>
              </a:rPr>
              <a:t>Sources: Flowserve Affinity, KSB EasySelect, Sulzer Select / ABSEL public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79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27432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0979D"/>
                </a:solidFill>
                <a:latin typeface="Aptos"/>
              </a:rP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How the two ideas compare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658368" cy="50292"/>
          </a:xfrm>
          <a:prstGeom prst="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5B6B79"/>
                </a:solidFill>
                <a:latin typeface="Aptos"/>
              </a:rPr>
              <a:t>Both are valuable, but their dependencies and time-to-value are different.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59536" y="1938528"/>
          <a:ext cx="1037844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74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Decision area</a:t>
                      </a:r>
                    </a:p>
                  </a:txBody>
                  <a:tcPr marL="73152" marR="73152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PumpCare 360</a:t>
                      </a:r>
                    </a:p>
                  </a:txBody>
                  <a:tcPr marL="73152" marR="73152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RapidDesign</a:t>
                      </a:r>
                    </a:p>
                  </a:txBody>
                  <a:tcPr marL="73152" marR="73152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40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D3A"/>
                          </a:solidFill>
                          <a:latin typeface="Aptos"/>
                        </a:rPr>
                        <a:t>Primary users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Customers and service teams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Engineering and sales teams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40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D3A"/>
                          </a:solidFill>
                          <a:latin typeface="Aptos"/>
                        </a:rPr>
                        <a:t>Core value</a:t>
                      </a:r>
                    </a:p>
                  </a:txBody>
                  <a:tcPr marL="73152" marR="73152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Turn alerts into maintenance and service</a:t>
                      </a:r>
                    </a:p>
                  </a:txBody>
                  <a:tcPr marL="73152" marR="73152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Reduce design and quotation time</a:t>
                      </a:r>
                    </a:p>
                  </a:txBody>
                  <a:tcPr marL="73152" marR="73152"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40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D3A"/>
                          </a:solidFill>
                          <a:latin typeface="Aptos"/>
                        </a:rPr>
                        <a:t>Revenue path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Subscriptions, parts, and services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Faster response and more competitive bids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740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D3A"/>
                          </a:solidFill>
                          <a:latin typeface="Aptos"/>
                        </a:rPr>
                        <a:t>Main dependency</a:t>
                      </a:r>
                    </a:p>
                  </a:txBody>
                  <a:tcPr marL="73152" marR="73152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Cyclops² data and customer integrations</a:t>
                      </a:r>
                    </a:p>
                  </a:txBody>
                  <a:tcPr marL="73152" marR="73152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Engineering data and existing AI models</a:t>
                      </a:r>
                    </a:p>
                  </a:txBody>
                  <a:tcPr marL="73152" marR="73152"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740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2D3A"/>
                          </a:solidFill>
                          <a:latin typeface="Aptos"/>
                        </a:rPr>
                        <a:t>Recommended timing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Strategic second initiative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02D3A"/>
                          </a:solidFill>
                          <a:latin typeface="Aptos"/>
                        </a:rPr>
                        <a:t>Start first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37360" y="5733288"/>
            <a:ext cx="8732520" cy="50292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37360" y="5733288"/>
            <a:ext cx="873252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Recommendation: begin with RapidDesign; develop PumpCare 360 as the customer-facing follow-on.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D0DCE2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79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27432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0979D"/>
                </a:solidFill>
                <a:latin typeface="Aptos"/>
              </a:rP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Recommended first move: a focused RapidDesign 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658368" cy="50292"/>
          </a:xfrm>
          <a:prstGeom prst="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88136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5B6B79"/>
                </a:solidFill>
                <a:latin typeface="Aptos"/>
              </a:rPr>
              <a:t>Validate business value before defining the detailed implementation roadmap.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920240"/>
            <a:ext cx="3401568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82296" cy="3456432"/>
          </a:xfrm>
          <a:prstGeom prst="roundRect">
            <a:avLst/>
          </a:prstGeom>
          <a:solidFill>
            <a:srgbClr val="1E5E91"/>
          </a:solidFill>
          <a:ln>
            <a:solidFill>
              <a:srgbClr val="1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7552" y="2148840"/>
            <a:ext cx="493776" cy="493776"/>
          </a:xfrm>
          <a:prstGeom prst="roundRect">
            <a:avLst/>
          </a:prstGeom>
          <a:solidFill>
            <a:srgbClr val="1E5E91"/>
          </a:solidFill>
          <a:ln>
            <a:solidFill>
              <a:srgbClr val="1E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148840"/>
            <a:ext cx="493776" cy="49377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139696"/>
            <a:ext cx="2258568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1. Confirm the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196024"/>
            <a:ext cx="2852929" cy="9048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dirty="0">
                <a:solidFill>
                  <a:srgbClr val="5B6B79"/>
                </a:solidFill>
                <a:latin typeface="Aptos"/>
              </a:rPr>
              <a:t>Select one centrifugal-pump family and document current quotation time, CFD effort, revisions, and available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20240"/>
            <a:ext cx="3401568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98264" y="1920240"/>
            <a:ext cx="82296" cy="3456432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72583" y="2148840"/>
            <a:ext cx="493776" cy="493776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72583" y="2148840"/>
            <a:ext cx="493776" cy="49377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3" y="2139696"/>
            <a:ext cx="2304289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102A43"/>
                </a:solidFill>
                <a:latin typeface="Aptos"/>
              </a:rPr>
              <a:t>2. Build a controlled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024" y="3196024"/>
            <a:ext cx="2852929" cy="9048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dirty="0">
                <a:solidFill>
                  <a:srgbClr val="5B6B79"/>
                </a:solidFill>
                <a:latin typeface="Aptos"/>
              </a:rPr>
              <a:t>Connect requirements, approved design history, and the existing AI model in a simple engineer-facing workflow.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920240"/>
            <a:ext cx="3401568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83296" y="1920240"/>
            <a:ext cx="82296" cy="3456432"/>
          </a:xfrm>
          <a:prstGeom prst="roundRect">
            <a:avLst/>
          </a:prstGeom>
          <a:solidFill>
            <a:srgbClr val="53A65C"/>
          </a:solidFill>
          <a:ln>
            <a:solidFill>
              <a:srgbClr val="53A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57616" y="2148840"/>
            <a:ext cx="493776" cy="493776"/>
          </a:xfrm>
          <a:prstGeom prst="roundRect">
            <a:avLst/>
          </a:prstGeom>
          <a:solidFill>
            <a:srgbClr val="53A65C"/>
          </a:solidFill>
          <a:ln>
            <a:solidFill>
              <a:srgbClr val="53A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57616" y="2148840"/>
            <a:ext cx="493776" cy="49377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2139696"/>
            <a:ext cx="2258568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3. Compare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3196024"/>
            <a:ext cx="2852928" cy="9048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dirty="0">
                <a:solidFill>
                  <a:srgbClr val="5B6B79"/>
                </a:solidFill>
                <a:latin typeface="Aptos"/>
              </a:rPr>
              <a:t>Run historical or live cases and compare prediction accuracy, engineering time, alternatives evaluated, and proposal speed.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5" y="5760720"/>
            <a:ext cx="10058400" cy="40233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Success gate: measurable cycle-time reduction with acceptable model accuracy and full engineer approval.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D0DCE2"/>
          </a:solidFill>
          <a:ln>
            <a:solidFill>
              <a:srgbClr val="D0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7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548640"/>
            <a:ext cx="21945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00979D"/>
                </a:solidFill>
                <a:latin typeface="Aptos"/>
              </a:rPr>
              <a:t>DECISION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41832"/>
            <a:ext cx="722376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Approve a short discovery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737360"/>
            <a:ext cx="740664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CDDEEA"/>
                </a:solidFill>
                <a:latin typeface="Aptos"/>
              </a:rPr>
              <a:t>Bring together engineering, digital products, service, and sales to validate: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487168"/>
            <a:ext cx="91440" cy="91440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2395728"/>
            <a:ext cx="6684264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Existing tools and overlapping initiatives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035808"/>
            <a:ext cx="91440" cy="91440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2944368"/>
            <a:ext cx="6684264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Available engineering models and datasets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584448"/>
            <a:ext cx="91440" cy="91440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3493008"/>
            <a:ext cx="6684264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A suitable RapidDesign pump family and pilot owner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133087"/>
            <a:ext cx="91440" cy="91440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4041648"/>
            <a:ext cx="6684264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The Cyclops² roadmap and future PumpCare 360 opportunity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658368"/>
            <a:ext cx="3044952" cy="5257800"/>
          </a:xfrm>
          <a:prstGeom prst="roundRect">
            <a:avLst/>
          </a:prstGeom>
          <a:solidFill>
            <a:srgbClr val="193954"/>
          </a:solidFill>
          <a:ln>
            <a:solidFill>
              <a:srgbClr val="19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41664" y="987552"/>
            <a:ext cx="23774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00979D"/>
                </a:solidFill>
                <a:latin typeface="Aptos"/>
              </a:rPr>
              <a:t>KEY PUBLIC SOURCES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645920"/>
            <a:ext cx="91440" cy="91440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51976" y="1554480"/>
            <a:ext cx="2121408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DCE8F0"/>
                </a:solidFill>
                <a:latin typeface="Aptos"/>
              </a:rPr>
              <a:t>Trillium Smart Condition Monitoring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084831"/>
            <a:ext cx="91440" cy="91440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51976" y="1993391"/>
            <a:ext cx="2121408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DCE8F0"/>
                </a:solidFill>
                <a:latin typeface="Aptos"/>
              </a:rPr>
              <a:t>AIRIC Reduced Order Modelling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2523744"/>
            <a:ext cx="91440" cy="91440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121408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DCE8F0"/>
                </a:solidFill>
                <a:latin typeface="Aptos"/>
              </a:rPr>
              <a:t>Trillium Data-Centre Cooling Pumps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2962656"/>
            <a:ext cx="91440" cy="91440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51976" y="2871215"/>
            <a:ext cx="2121408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DCE8F0"/>
                </a:solidFill>
                <a:latin typeface="Aptos"/>
              </a:rPr>
              <a:t>KSB Guard and EasySelect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01568"/>
            <a:ext cx="91440" cy="91440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51976" y="3310128"/>
            <a:ext cx="2121408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DCE8F0"/>
                </a:solidFill>
                <a:latin typeface="Aptos"/>
              </a:rPr>
              <a:t>Sulzer BLUE BOX and Select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3840479"/>
            <a:ext cx="91440" cy="91440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51976" y="3749039"/>
            <a:ext cx="2121408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DCE8F0"/>
                </a:solidFill>
                <a:latin typeface="Aptos"/>
              </a:rPr>
              <a:t>Flowserve RedRaven and Affinity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4279392"/>
            <a:ext cx="91440" cy="91440"/>
          </a:xfrm>
          <a:prstGeom prst="roundRect">
            <a:avLst/>
          </a:prstGeom>
          <a:solidFill>
            <a:srgbClr val="00979D"/>
          </a:solidFill>
          <a:ln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51976" y="4187952"/>
            <a:ext cx="2121408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DCE8F0"/>
                </a:solidFill>
                <a:latin typeface="Aptos"/>
              </a:rPr>
              <a:t>Xylem Avensor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41664" y="5111496"/>
            <a:ext cx="2715768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dirty="0">
                <a:solidFill>
                  <a:srgbClr val="B3CBDA"/>
                </a:solidFill>
                <a:latin typeface="Aptos"/>
              </a:rPr>
              <a:t>Publicly visible gaps must be validated against Trillium’s internal roadmap.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5925312"/>
            <a:ext cx="722376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Detailed implementation planning follows team approval.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B4C9D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958</Words>
  <Application>Microsoft Office PowerPoint</Application>
  <PresentationFormat>Widescreen</PresentationFormat>
  <Paragraphs>177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Shivam Kumar</cp:lastModifiedBy>
  <cp:revision>3</cp:revision>
  <dcterms:created xsi:type="dcterms:W3CDTF">2013-01-27T09:14:16Z</dcterms:created>
  <dcterms:modified xsi:type="dcterms:W3CDTF">2026-09-15T05:02:47Z</dcterms:modified>
  <cp:category/>
</cp:coreProperties>
</file>